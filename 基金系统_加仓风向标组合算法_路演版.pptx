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65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02920"/>
            <a:ext cx="2980944" cy="310896"/>
          </a:xfrm>
          <a:prstGeom prst="roundRect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57784"/>
            <a:ext cx="2980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Investor Pitch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57400" y="502920"/>
            <a:ext cx="3182112" cy="310896"/>
          </a:xfrm>
          <a:prstGeom prst="round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57400" y="557784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 + FinTech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基金系统 · 加仓风向标组合算法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基于天天基金App平台获取数据并完成交易 · 资金由第三方托管 · 系统只赋能不划取资金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2697480" cy="1463040"/>
          </a:xfrm>
          <a:prstGeom prst="roundRect">
            <a:avLst/>
          </a:prstGeom>
          <a:solidFill>
            <a:srgbClr val="111C3A">
              <a:alpha val="90000"/>
            </a:srgbClr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880360"/>
            <a:ext cx="73152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0449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目标拆解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" y="344728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把年化收益目标拆成可验证的小目标（例：20%≈5%×4）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降低每次决策难度与风险暴露。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29000" y="2880360"/>
            <a:ext cx="2697480" cy="1463040"/>
          </a:xfrm>
          <a:prstGeom prst="roundRect">
            <a:avLst/>
          </a:prstGeom>
          <a:solidFill>
            <a:srgbClr val="111C3A">
              <a:alpha val="90000"/>
            </a:srgbClr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2880360"/>
            <a:ext cx="73152" cy="14630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3592" y="30449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风向标选基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93592" y="344728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从“加仓风向标”捕捉资金流向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并结合多维因子过滤，形成可交易候选池。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2880360"/>
            <a:ext cx="2697480" cy="1463040"/>
          </a:xfrm>
          <a:prstGeom prst="roundRect">
            <a:avLst/>
          </a:prstGeom>
          <a:solidFill>
            <a:srgbClr val="111C3A">
              <a:alpha val="90000"/>
            </a:srgbClr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2880360"/>
            <a:ext cx="73152" cy="1463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30449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纪律化交易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73952" y="344728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新增/加仓/止盈三套策略联动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5日均线守卫 + 流动性风控 + 交易守卫。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© 2026 · Fund System AI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0" y="4754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仅供路演交流 · 不构成任何投资建议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955280" y="4526280"/>
            <a:ext cx="118872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4754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仅供路演交流 · 不构成任何投资建议</a:t>
            </a:r>
            <a:endParaRPr lang="en-US" sz="1000" dirty="0"/>
          </a:p>
        </p:txBody>
      </p:sp>
      <p:sp>
        <p:nvSpPr>
          <p:cNvPr id="2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市场痛点与机会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把“选基 + 择时 + 仓位 + 风控”从经验变为可复用的系统能力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47088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48840"/>
            <a:ext cx="2697480" cy="1417320"/>
          </a:xfrm>
          <a:prstGeom prst="roundRect">
            <a:avLst/>
          </a:prstGeom>
          <a:solidFill>
            <a:srgbClr val="111C3A">
              <a:alpha val="90000"/>
            </a:srgbClr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48840"/>
            <a:ext cx="73152" cy="14173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3134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信息噪声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271576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热点频繁切换，难以用人工持续跟踪。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需要“资金流向”级别的信号来聚焦。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2148840"/>
            <a:ext cx="2697480" cy="1417320"/>
          </a:xfrm>
          <a:prstGeom prst="roundRect">
            <a:avLst/>
          </a:prstGeom>
          <a:solidFill>
            <a:srgbClr val="111C3A">
              <a:alpha val="90000"/>
            </a:srgbClr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2148840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93592" y="23134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缺乏纪律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93592" y="271576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追涨杀跌常见，缺少统一的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买入门槛、加仓规则与止盈机制。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2148840"/>
            <a:ext cx="2697480" cy="1417320"/>
          </a:xfrm>
          <a:prstGeom prst="roundRect">
            <a:avLst/>
          </a:prstGeom>
          <a:solidFill>
            <a:srgbClr val="111C3A">
              <a:alpha val="90000"/>
            </a:srgbClr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148840"/>
            <a:ext cx="73152" cy="1417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23134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交易成本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73952" y="271576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频繁交易若费率不控，会把收益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“吃掉”。系统优先C类/0费率份额。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8046720" cy="960120"/>
          </a:xfrm>
          <a:prstGeom prst="roundRect">
            <a:avLst/>
          </a:prstGeom>
          <a:solidFill>
            <a:srgbClr val="0B1225">
              <a:alpha val="95000"/>
            </a:srgbClr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核心方法：把全年收益目标拆解成多次小目标循环（例如 20% ≈ 5% × 4 次 或 10% × 2 次）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每次循环：信号→筛选→建仓→回撤加仓→波动率自适应止盈 → 释放弹药进入下一轮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225">
              <a:alpha val="90000"/>
            </a:srgbClr>
          </a:solidFill>
          <a:ln w="12700">
            <a:solidFill>
              <a:srgbClr val="0B12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97433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Confidential · Fund System AI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0" y="49743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2/12</a:t>
            </a:r>
            <a:endParaRPr lang="en-US" sz="10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产品概览：系统做什么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一套可部署、可参数化的基金量化“选基—交易—复盘”闭环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47088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57400"/>
            <a:ext cx="3977640" cy="1234440"/>
          </a:xfrm>
          <a:prstGeom prst="roundRect">
            <a:avLst/>
          </a:prstGeom>
          <a:solidFill>
            <a:srgbClr val="111C3A">
              <a:alpha val="90000"/>
            </a:srgbClr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57400"/>
            <a:ext cx="73152" cy="1234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22199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数据引擎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262432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从天天基金“加仓风向标”等接口采集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入库→频次统计→候选池缓存。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2057400"/>
            <a:ext cx="3977640" cy="1234440"/>
          </a:xfrm>
          <a:prstGeom prst="roundRect">
            <a:avLst/>
          </a:prstGeom>
          <a:solidFill>
            <a:srgbClr val="111C3A">
              <a:alpha val="90000"/>
            </a:srgbClr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2057400"/>
            <a:ext cx="73152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222199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策略引擎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65192" y="262432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新增/加仓/止盈三策略联动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统一净值门槛与排名/收益过滤。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3977640" cy="1234440"/>
          </a:xfrm>
          <a:prstGeom prst="roundRect">
            <a:avLst/>
          </a:prstGeom>
          <a:solidFill>
            <a:srgbClr val="111C3A">
              <a:alpha val="90000"/>
            </a:srgbClr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474720"/>
            <a:ext cx="73152" cy="123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63931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交易执行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3232" y="404164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通过平台交易接口下单/撤单/赎回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系统只发起指令，不触碰托管资金。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3474720"/>
            <a:ext cx="3977640" cy="1234440"/>
          </a:xfrm>
          <a:prstGeom prst="roundRect">
            <a:avLst/>
          </a:prstGeom>
          <a:solidFill>
            <a:srgbClr val="111C3A">
              <a:alpha val="90000"/>
            </a:srgbClr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3474720"/>
            <a:ext cx="73152" cy="1234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363931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监控与复盘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65192" y="404164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资产/持仓同步、交易守卫、日志与报告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支持按子账户/策略维度评估。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设计原则：参数化（预算/基金数/阈值）+ 可解释（每一步可追溯）+ 可部署（定时触发/云函数）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225">
              <a:alpha val="90000"/>
            </a:srgbClr>
          </a:solidFill>
          <a:ln w="12700">
            <a:solidFill>
              <a:srgbClr val="0B12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97433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Confidential · Fund System AI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49743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3/12</a:t>
            </a:r>
            <a:endParaRPr lang="en-US" sz="1000" dirty="0"/>
          </a:p>
        </p:txBody>
      </p:sp>
      <p:sp>
        <p:nvSpPr>
          <p:cNvPr id="2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系统架构：与天天基金平台协作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API适配层 + 策略与风控层 + 数据层（DB）+ 任务调度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47088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57400"/>
            <a:ext cx="2377440" cy="2377440"/>
          </a:xfrm>
          <a:prstGeom prst="roundRect">
            <a:avLst/>
          </a:prstGeom>
          <a:solidFill>
            <a:srgbClr val="111C3A">
              <a:alpha val="92000"/>
            </a:srgbClr>
          </a:solidFill>
          <a:ln w="12700">
            <a:solidFill>
              <a:srgbClr val="2B3A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57400"/>
            <a:ext cx="73152" cy="2377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18541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天天基金App平台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423160"/>
            <a:ext cx="214884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数据源：加仓风向标/基金信息/指数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交易：申购/赎回/撤单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账户：组合/份额/费率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63240" y="2057400"/>
            <a:ext cx="3017520" cy="2377440"/>
          </a:xfrm>
          <a:prstGeom prst="roundRect">
            <a:avLst/>
          </a:prstGeom>
          <a:solidFill>
            <a:srgbClr val="111C3A">
              <a:alpha val="92000"/>
            </a:srgbClr>
          </a:solidFill>
          <a:ln w="12700">
            <a:solidFill>
              <a:srgbClr val="2B3A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2057400"/>
            <a:ext cx="73152" cy="2377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27832" y="2185416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Fund System 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27832" y="2423160"/>
            <a:ext cx="278892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数据采集与清洗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候选池与指标库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策略引擎（新增/加仓/止盈）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风控矩阵（流动性/均线/交易守卫）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日志/报告/回测接口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2057400"/>
            <a:ext cx="2240280" cy="2377440"/>
          </a:xfrm>
          <a:prstGeom prst="roundRect">
            <a:avLst/>
          </a:prstGeom>
          <a:solidFill>
            <a:srgbClr val="111C3A">
              <a:alpha val="92000"/>
            </a:srgbClr>
          </a:solidFill>
          <a:ln w="12700">
            <a:solidFill>
              <a:srgbClr val="2B3A6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2057400"/>
            <a:ext cx="73152" cy="2377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21854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资金托管/清算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19672" y="2423160"/>
            <a:ext cx="201168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资金由第三方托管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系统仅发起交易指令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不接触用户资金划转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14600" y="2834640"/>
            <a:ext cx="548640" cy="0"/>
          </a:xfrm>
          <a:prstGeom prst="line">
            <a:avLst/>
          </a:prstGeom>
          <a:noFill/>
          <a:ln w="25400">
            <a:solidFill>
              <a:srgbClr val="5B6D9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080760" y="2834640"/>
            <a:ext cx="274320" cy="0"/>
          </a:xfrm>
          <a:prstGeom prst="line">
            <a:avLst/>
          </a:prstGeom>
          <a:noFill/>
          <a:ln w="25400">
            <a:solidFill>
              <a:srgbClr val="5B6D9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8640" y="4526280"/>
            <a:ext cx="4206240" cy="868680"/>
          </a:xfrm>
          <a:prstGeom prst="roundRect">
            <a:avLst/>
          </a:prstGeom>
          <a:solidFill>
            <a:srgbClr val="111C3A">
              <a:alpha val="92000"/>
            </a:srgbClr>
          </a:solidFill>
          <a:ln w="12700">
            <a:solidFill>
              <a:srgbClr val="2B3A6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526280"/>
            <a:ext cx="73152" cy="8686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65429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数据层（MySQL/Repository）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32" y="4892040"/>
            <a:ext cx="3977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funds / fund_investment_indicators / 用户资产与交易同步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4526280"/>
            <a:ext cx="3931920" cy="868680"/>
          </a:xfrm>
          <a:prstGeom prst="roundRect">
            <a:avLst/>
          </a:prstGeom>
          <a:solidFill>
            <a:srgbClr val="111C3A">
              <a:alpha val="92000"/>
            </a:srgbClr>
          </a:solidFill>
          <a:ln w="12700">
            <a:solidFill>
              <a:srgbClr val="2B3A6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4526280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465429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调度层（定时触发）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28032" y="4892040"/>
            <a:ext cx="3703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s.yaml 配置：工作日定时执行新增/加仓/止盈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225">
              <a:alpha val="90000"/>
            </a:srgbClr>
          </a:solidFill>
          <a:ln w="12700">
            <a:solidFill>
              <a:srgbClr val="0B122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97433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Confidential · Fund System AI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0" y="49743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4/12</a:t>
            </a:r>
            <a:endParaRPr lang="en-US" sz="1000" dirty="0"/>
          </a:p>
        </p:txBody>
      </p:sp>
      <p:sp>
        <p:nvSpPr>
          <p:cNvPr id="3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端到端流程：采集 → 筛选 → 交易 → 复盘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把“信号”变成可执行交易，再沉淀为下一轮的可用弹药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47088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57400"/>
            <a:ext cx="1325880" cy="777240"/>
          </a:xfrm>
          <a:prstGeom prst="roundRect">
            <a:avLst/>
          </a:prstGeom>
          <a:solidFill>
            <a:srgbClr val="111C3A">
              <a:alpha val="92000"/>
            </a:srgbClr>
          </a:solidFill>
          <a:ln w="12700">
            <a:solidFill>
              <a:srgbClr val="2B3A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57400"/>
            <a:ext cx="73152" cy="7772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18541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423160"/>
            <a:ext cx="1097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加仓风向标读取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列表入库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74520" y="2446020"/>
            <a:ext cx="109728" cy="0"/>
          </a:xfrm>
          <a:prstGeom prst="line">
            <a:avLst/>
          </a:prstGeom>
          <a:noFill/>
          <a:ln w="25400">
            <a:solidFill>
              <a:srgbClr val="46547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984248" y="2057400"/>
            <a:ext cx="1325880" cy="777240"/>
          </a:xfrm>
          <a:prstGeom prst="roundRect">
            <a:avLst/>
          </a:prstGeom>
          <a:solidFill>
            <a:srgbClr val="111C3A">
              <a:alpha val="92000"/>
            </a:srgbClr>
          </a:solidFill>
          <a:ln w="12700">
            <a:solidFill>
              <a:srgbClr val="2B3A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84248" y="2057400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218541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清洗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48840" y="2423160"/>
            <a:ext cx="1097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仅保留C类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去债/去异常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10128" y="2446020"/>
            <a:ext cx="109728" cy="0"/>
          </a:xfrm>
          <a:prstGeom prst="line">
            <a:avLst/>
          </a:prstGeom>
          <a:noFill/>
          <a:ln w="25400">
            <a:solidFill>
              <a:srgbClr val="46547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419856" y="2057400"/>
            <a:ext cx="1325880" cy="777240"/>
          </a:xfrm>
          <a:prstGeom prst="roundRect">
            <a:avLst/>
          </a:prstGeom>
          <a:solidFill>
            <a:srgbClr val="111C3A">
              <a:alpha val="92000"/>
            </a:srgbClr>
          </a:solidFill>
          <a:ln w="12700">
            <a:solidFill>
              <a:srgbClr val="2B3A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19856" y="2057400"/>
            <a:ext cx="73152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84448" y="218541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84448" y="2423160"/>
            <a:ext cx="1097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频次/费率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排名/收益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45736" y="2446020"/>
            <a:ext cx="109728" cy="0"/>
          </a:xfrm>
          <a:prstGeom prst="line">
            <a:avLst/>
          </a:prstGeom>
          <a:noFill/>
          <a:ln w="25400">
            <a:solidFill>
              <a:srgbClr val="46547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855464" y="2057400"/>
            <a:ext cx="1325880" cy="777240"/>
          </a:xfrm>
          <a:prstGeom prst="roundRect">
            <a:avLst/>
          </a:prstGeom>
          <a:solidFill>
            <a:srgbClr val="111C3A">
              <a:alpha val="92000"/>
            </a:srgbClr>
          </a:solidFill>
          <a:ln w="12700">
            <a:solidFill>
              <a:srgbClr val="2B3A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55464" y="2057400"/>
            <a:ext cx="73152" cy="7772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0056" y="218541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0056" y="2423160"/>
            <a:ext cx="1097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新增/加仓/止盈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组合算法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81344" y="2446020"/>
            <a:ext cx="109728" cy="0"/>
          </a:xfrm>
          <a:prstGeom prst="line">
            <a:avLst/>
          </a:prstGeom>
          <a:noFill/>
          <a:ln w="25400">
            <a:solidFill>
              <a:srgbClr val="46547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291072" y="2057400"/>
            <a:ext cx="1325880" cy="777240"/>
          </a:xfrm>
          <a:prstGeom prst="roundRect">
            <a:avLst/>
          </a:prstGeom>
          <a:solidFill>
            <a:srgbClr val="111C3A">
              <a:alpha val="92000"/>
            </a:srgbClr>
          </a:solidFill>
          <a:ln w="12700">
            <a:solidFill>
              <a:srgbClr val="2B3A6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91072" y="2057400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55664" y="218541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55664" y="2423160"/>
            <a:ext cx="1097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申购/赎回/撤单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交易守卫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616952" y="2446020"/>
            <a:ext cx="109728" cy="0"/>
          </a:xfrm>
          <a:prstGeom prst="line">
            <a:avLst/>
          </a:prstGeom>
          <a:noFill/>
          <a:ln w="25400">
            <a:solidFill>
              <a:srgbClr val="46547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726680" y="2057400"/>
            <a:ext cx="1325880" cy="777240"/>
          </a:xfrm>
          <a:prstGeom prst="roundRect">
            <a:avLst/>
          </a:prstGeom>
          <a:solidFill>
            <a:srgbClr val="111C3A">
              <a:alpha val="92000"/>
            </a:srgbClr>
          </a:solidFill>
          <a:ln w="12700">
            <a:solidFill>
              <a:srgbClr val="2B3A6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26680" y="2057400"/>
            <a:ext cx="73152" cy="7772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91272" y="218541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891272" y="2423160"/>
            <a:ext cx="1097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资产同步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报告与指标库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关键：所有“买入”均需通过净值门槛（5日均值守卫）与流动性风控；“止盈”基于波动率自适应阈值。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3749040"/>
            <a:ext cx="8229600" cy="914400"/>
          </a:xfrm>
          <a:prstGeom prst="roundRect">
            <a:avLst/>
          </a:prstGeom>
          <a:solidFill>
            <a:srgbClr val="111C3A">
              <a:alpha val="88000"/>
            </a:srgbClr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3886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关键代码路径（项目）：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77240" y="41330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src/service/大数据/加仓风向标服务.py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src/service/加仓风向标组合算法/加仓风向标新增.py / 加仓.py / 止盈.py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src/service/公共服务/nav_gate_service.py / risk_control_service.py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225">
              <a:alpha val="90000"/>
            </a:srgbClr>
          </a:solidFill>
          <a:ln w="12700">
            <a:solidFill>
              <a:srgbClr val="0B122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97433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Confidential · Fund System AI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29600" y="49743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5/12</a:t>
            </a:r>
            <a:endParaRPr lang="en-US" sz="1000" dirty="0"/>
          </a:p>
        </p:txBody>
      </p:sp>
      <p:sp>
        <p:nvSpPr>
          <p:cNvPr id="4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策略设计框架（可解释、可参数化）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用“资金流向信号”驱动候选池，用“纪律化门槛”驱动交易动作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47088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03120"/>
            <a:ext cx="2743200" cy="1325880"/>
          </a:xfrm>
          <a:prstGeom prst="roundRect">
            <a:avLst/>
          </a:prstGeom>
          <a:solidFill>
            <a:srgbClr val="111C3A">
              <a:alpha val="90000"/>
            </a:srgbClr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03120"/>
            <a:ext cx="7315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2677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 目标拆解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267004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年化目标 → 多轮小目标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例如：20%≈5%×4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每轮完成后释放弹药。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103120"/>
            <a:ext cx="2743200" cy="1325880"/>
          </a:xfrm>
          <a:prstGeom prst="roundRect">
            <a:avLst/>
          </a:prstGeom>
          <a:solidFill>
            <a:srgbClr val="111C3A">
              <a:alpha val="90000"/>
            </a:srgbClr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2103120"/>
            <a:ext cx="73152" cy="13258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22677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B. 风向标信号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39312" y="267004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读取“加仓风向标”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捕捉市场资金流向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形成当日候选池。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2103120"/>
            <a:ext cx="2743200" cy="1325880"/>
          </a:xfrm>
          <a:prstGeom prst="roundRect">
            <a:avLst/>
          </a:prstGeom>
          <a:solidFill>
            <a:srgbClr val="111C3A">
              <a:alpha val="90000"/>
            </a:srgbClr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2103120"/>
            <a:ext cx="73152" cy="1325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65392" y="22677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C. 交易纪律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65392" y="267004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新增/加仓/止盈严格触发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5日均值守卫 + 排名/收益过滤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避免追高与接飞刀。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611880"/>
            <a:ext cx="8229600" cy="1143000"/>
          </a:xfrm>
          <a:prstGeom prst="roundRect">
            <a:avLst/>
          </a:prstGeom>
          <a:solidFill>
            <a:srgbClr val="0B1225">
              <a:alpha val="95000"/>
            </a:srgbClr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7673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默认参数（来自 s.yaml / 环境变量，可按账户/策略配置）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04164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DEFAULT_AMOUNT_ADD_NEW = 50,000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DEFAULT_AMOUNT_INCREASE = 10,000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DEFAULT_AMOUNT_REDEEM = 10,000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HQB_RATIO_THRESHOLD = 20%（流动性风控红线）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MAX_FUNDS_THRESHOLD（默认 20）/ spread_days（默认 5）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225">
              <a:alpha val="90000"/>
            </a:srgbClr>
          </a:solidFill>
          <a:ln w="12700">
            <a:solidFill>
              <a:srgbClr val="0B12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97433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Confidential · Fund System AI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0" y="49743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6/12</a:t>
            </a:r>
            <a:endParaRPr lang="en-US" sz="10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策略① 新增（初始化建仓）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代码：src/service/加仓风向标组合算法/加仓风向标新增.py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47088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38528"/>
            <a:ext cx="5120640" cy="640080"/>
          </a:xfrm>
          <a:prstGeom prst="roundRect">
            <a:avLst/>
          </a:prstGeom>
          <a:solidFill>
            <a:srgbClr val="111C3A">
              <a:alpha val="92000"/>
            </a:srgbClr>
          </a:solidFill>
          <a:ln w="12700">
            <a:solidFill>
              <a:srgbClr val="2B3A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38528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066544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风控 &amp; 阈值判断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30428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活期宝储备：预算×10%（不足拦截）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 基金数≥MAX_FUNDS_THRESHOLD 且 资产&gt;预算80% → 停止新增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2578608"/>
            <a:ext cx="0" cy="100584"/>
          </a:xfrm>
          <a:prstGeom prst="line">
            <a:avLst/>
          </a:prstGeom>
          <a:noFill/>
          <a:ln w="25400">
            <a:solidFill>
              <a:srgbClr val="46547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2679192"/>
            <a:ext cx="5120640" cy="640080"/>
          </a:xfrm>
          <a:prstGeom prst="roundRect">
            <a:avLst/>
          </a:prstGeom>
          <a:solidFill>
            <a:srgbClr val="111C3A">
              <a:alpha val="92000"/>
            </a:srgbClr>
          </a:solidFill>
          <a:ln w="12700">
            <a:solidFill>
              <a:srgbClr val="2B3A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79192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80720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构建候选池（风向标）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" y="3044952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fund_type 过滤（index / non_index / all）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去除已持有 + 指数去重（index_code）+ C类/低费率优先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08960" y="3319272"/>
            <a:ext cx="0" cy="100584"/>
          </a:xfrm>
          <a:prstGeom prst="line">
            <a:avLst/>
          </a:prstGeom>
          <a:noFill/>
          <a:ln w="25400">
            <a:solidFill>
              <a:srgbClr val="46547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3419856"/>
            <a:ext cx="5120640" cy="640080"/>
          </a:xfrm>
          <a:prstGeom prst="roundRect">
            <a:avLst/>
          </a:prstGeom>
          <a:solidFill>
            <a:srgbClr val="111C3A">
              <a:alpha val="92000"/>
            </a:srgbClr>
          </a:solidFill>
          <a:ln w="12700">
            <a:solidFill>
              <a:srgbClr val="2B3A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419856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547872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统一门槛：费率 + 趋势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3232" y="3785616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指数基金费率结构校验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nav5_gate：估算净值（或前一日净值）&gt; 5日均值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08960" y="4059936"/>
            <a:ext cx="0" cy="100584"/>
          </a:xfrm>
          <a:prstGeom prst="line">
            <a:avLst/>
          </a:prstGeom>
          <a:noFill/>
          <a:ln w="25400">
            <a:solidFill>
              <a:srgbClr val="46547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8640" y="4160520"/>
            <a:ext cx="5120640" cy="640080"/>
          </a:xfrm>
          <a:prstGeom prst="roundRect">
            <a:avLst/>
          </a:prstGeom>
          <a:solidFill>
            <a:srgbClr val="111C3A">
              <a:alpha val="92000"/>
            </a:srgbClr>
          </a:solidFill>
          <a:ln w="12700">
            <a:solidFill>
              <a:srgbClr val="2B3A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160520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288536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排序 &amp; 下单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" y="452628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product_rank 取前 fund_num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金额：amount 或 total_budget/MAX_FUNDS_THRESHOLD/spread_days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06440" y="2057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关键过滤条件（可解释）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06440" y="2468880"/>
            <a:ext cx="1097280" cy="310896"/>
          </a:xfrm>
          <a:prstGeom prst="roundRect">
            <a:avLst/>
          </a:prstGeom>
          <a:solidFill>
            <a:srgbClr val="22D3EE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252374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C类优先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95160" y="2468880"/>
            <a:ext cx="1371600" cy="310896"/>
          </a:xfrm>
          <a:prstGeom prst="roundRect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2523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去债/去异常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06440" y="2880360"/>
            <a:ext cx="1097280" cy="310896"/>
          </a:xfrm>
          <a:prstGeom prst="round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06440" y="293522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指数去重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95160" y="2880360"/>
            <a:ext cx="1097280" cy="310896"/>
          </a:xfrm>
          <a:prstGeom prst="roundRect">
            <a:avLst/>
          </a:prstGeom>
          <a:solidFill>
            <a:srgbClr val="22D3EE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5160" y="293522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费率校验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806440" y="3291840"/>
            <a:ext cx="1371600" cy="310896"/>
          </a:xfrm>
          <a:prstGeom prst="roundRect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33467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5日均值守卫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995160" y="3291840"/>
            <a:ext cx="1097280" cy="310896"/>
          </a:xfrm>
          <a:prstGeom prst="round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95160" y="33467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排名排序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806440" y="3840480"/>
            <a:ext cx="2788920" cy="914400"/>
          </a:xfrm>
          <a:prstGeom prst="roundRect">
            <a:avLst/>
          </a:prstGeom>
          <a:solidFill>
            <a:srgbClr val="111C3A">
              <a:alpha val="88000"/>
            </a:srgbClr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89320" y="39502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输出：新增订单列表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989320" y="4206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每次最多买入 fund_num 只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全流程可记录“为何买/为何不买”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225">
              <a:alpha val="90000"/>
            </a:srgbClr>
          </a:solidFill>
          <a:ln w="12700">
            <a:solidFill>
              <a:srgbClr val="0B122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97433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Confidential · Fund System AI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229600" y="49743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7/12</a:t>
            </a:r>
            <a:endParaRPr lang="en-US" sz="1000" dirty="0"/>
          </a:p>
        </p:txBody>
      </p:sp>
      <p:sp>
        <p:nvSpPr>
          <p:cNvPr id="4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策略② 加仓（摊薄成本）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代码：src/service/加仓风向标组合算法/加仓风向标加仓.py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47088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38528"/>
            <a:ext cx="5120640" cy="640080"/>
          </a:xfrm>
          <a:prstGeom prst="roundRect">
            <a:avLst/>
          </a:prstGeom>
          <a:solidFill>
            <a:srgbClr val="111C3A">
              <a:alpha val="92000"/>
            </a:srgbClr>
          </a:solidFill>
          <a:ln w="12700">
            <a:solidFill>
              <a:srgbClr val="2B3A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38528"/>
            <a:ext cx="73152" cy="6400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066544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触发：回撤才买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30428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仅对“已持仓”标的评估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estimated_profit_rate &lt; -1% 才允许加仓（保证平均成本下降）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2578608"/>
            <a:ext cx="0" cy="100584"/>
          </a:xfrm>
          <a:prstGeom prst="line">
            <a:avLst/>
          </a:prstGeom>
          <a:noFill/>
          <a:ln w="25400">
            <a:solidFill>
              <a:srgbClr val="46547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2679192"/>
            <a:ext cx="5120640" cy="640080"/>
          </a:xfrm>
          <a:prstGeom prst="roundRect">
            <a:avLst/>
          </a:prstGeom>
          <a:solidFill>
            <a:srgbClr val="111C3A">
              <a:alpha val="92000"/>
            </a:srgbClr>
          </a:solidFill>
          <a:ln w="12700">
            <a:solidFill>
              <a:srgbClr val="2B3A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79192"/>
            <a:ext cx="73152" cy="6400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80720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排序：风向标优先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" y="3044952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风向标基金优先；组内按回撤深度排序（跌得越多越优先）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08960" y="3319272"/>
            <a:ext cx="0" cy="100584"/>
          </a:xfrm>
          <a:prstGeom prst="line">
            <a:avLst/>
          </a:prstGeom>
          <a:noFill/>
          <a:ln w="25400">
            <a:solidFill>
              <a:srgbClr val="46547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3419856"/>
            <a:ext cx="5120640" cy="640080"/>
          </a:xfrm>
          <a:prstGeom prst="roundRect">
            <a:avLst/>
          </a:prstGeom>
          <a:solidFill>
            <a:srgbClr val="111C3A">
              <a:alpha val="92000"/>
            </a:srgbClr>
          </a:solidFill>
          <a:ln w="12700">
            <a:solidFill>
              <a:srgbClr val="2B3A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419856"/>
            <a:ext cx="73152" cy="6400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547872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统一门槛：nav5 + 排名/百分位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3232" y="3785616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5日均值守卫；100日排名 20~90 且 30日排名≥5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百分位排名（月/季）≤75%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08960" y="4059936"/>
            <a:ext cx="0" cy="100584"/>
          </a:xfrm>
          <a:prstGeom prst="line">
            <a:avLst/>
          </a:prstGeom>
          <a:noFill/>
          <a:ln w="25400">
            <a:solidFill>
              <a:srgbClr val="46547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8640" y="4160520"/>
            <a:ext cx="5120640" cy="640080"/>
          </a:xfrm>
          <a:prstGeom prst="roundRect">
            <a:avLst/>
          </a:prstGeom>
          <a:solidFill>
            <a:srgbClr val="111C3A">
              <a:alpha val="92000"/>
            </a:srgbClr>
          </a:solidFill>
          <a:ln w="12700">
            <a:solidFill>
              <a:srgbClr val="2B3A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160520"/>
            <a:ext cx="73152" cy="6400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288536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执行：交易守卫 + 分层加仓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" y="452628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不连续交易守卫（上个交易日+今日）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基础加仓；回撤&lt;-5% 可追加一笔；单笔金额≈新增×2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06440" y="2057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关键约束（风险控制）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06440" y="2423160"/>
            <a:ext cx="2788920" cy="1051560"/>
          </a:xfrm>
          <a:prstGeom prst="roundRect">
            <a:avLst/>
          </a:prstGeom>
          <a:solidFill>
            <a:srgbClr val="111C3A">
              <a:alpha val="90000"/>
            </a:srgbClr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06440" y="2423160"/>
            <a:ext cx="73152" cy="10515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71032" y="25877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只在回撤时买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971032" y="29900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estimated_profit_rate &lt; -1%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避免“越涨越买”抬高成本。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06440" y="3566160"/>
            <a:ext cx="2788920" cy="1051560"/>
          </a:xfrm>
          <a:prstGeom prst="roundRect">
            <a:avLst/>
          </a:prstGeom>
          <a:solidFill>
            <a:srgbClr val="111C3A">
              <a:alpha val="90000"/>
            </a:srgbClr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06440" y="3566160"/>
            <a:ext cx="73152" cy="10515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71032" y="37307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趋势门槛统一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971032" y="41330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nav5_gate 统一调用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减少策略间偏差与失控概率。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225">
              <a:alpha val="90000"/>
            </a:srgbClr>
          </a:solidFill>
          <a:ln w="12700">
            <a:solidFill>
              <a:srgbClr val="0B122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97433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Confidential · Fund System AI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29600" y="49743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8/12</a:t>
            </a:r>
            <a:endParaRPr lang="en-US" sz="1000" dirty="0"/>
          </a:p>
        </p:txBody>
      </p:sp>
      <p:sp>
        <p:nvSpPr>
          <p:cNvPr id="3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策略③ 止盈（波动率自适应）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代码：src/service/加仓风向标组合算法/加仓风向标止盈.py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47088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38528"/>
            <a:ext cx="5120640" cy="640080"/>
          </a:xfrm>
          <a:prstGeom prst="roundRect">
            <a:avLst/>
          </a:prstGeom>
          <a:solidFill>
            <a:srgbClr val="111C3A">
              <a:alpha val="92000"/>
            </a:srgbClr>
          </a:solidFill>
          <a:ln w="12700">
            <a:solidFill>
              <a:srgbClr val="2B3A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38528"/>
            <a:ext cx="73152" cy="640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066544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计算止盈阈值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30428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stop_rate = clamp(波动率, 区间)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指数(000)：3%~10%  非指数：5%~15%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2578608"/>
            <a:ext cx="0" cy="100584"/>
          </a:xfrm>
          <a:prstGeom prst="line">
            <a:avLst/>
          </a:prstGeom>
          <a:noFill/>
          <a:ln w="25400">
            <a:solidFill>
              <a:srgbClr val="46547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2679192"/>
            <a:ext cx="5120640" cy="640080"/>
          </a:xfrm>
          <a:prstGeom prst="roundRect">
            <a:avLst/>
          </a:prstGeom>
          <a:solidFill>
            <a:srgbClr val="111C3A">
              <a:alpha val="92000"/>
            </a:srgbClr>
          </a:solidFill>
          <a:ln w="12700">
            <a:solidFill>
              <a:srgbClr val="2B3A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79192"/>
            <a:ext cx="73152" cy="640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80720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触发条件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" y="3044952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预估收益率 &gt; stop_rate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且（估值涨幅=0 或 &gt;0.5）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且 100日排名 &gt; 90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08960" y="3319272"/>
            <a:ext cx="0" cy="100584"/>
          </a:xfrm>
          <a:prstGeom prst="line">
            <a:avLst/>
          </a:prstGeom>
          <a:noFill/>
          <a:ln w="25400">
            <a:solidFill>
              <a:srgbClr val="46547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3419856"/>
            <a:ext cx="5120640" cy="640080"/>
          </a:xfrm>
          <a:prstGeom prst="roundRect">
            <a:avLst/>
          </a:prstGeom>
          <a:solidFill>
            <a:srgbClr val="111C3A">
              <a:alpha val="92000"/>
            </a:srgbClr>
          </a:solidFill>
          <a:ln w="12700">
            <a:solidFill>
              <a:srgbClr val="2B3A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419856"/>
            <a:ext cx="73152" cy="640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547872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执行卖出（优先低费率）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3232" y="3785616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若低费率/0费率份额&gt;10 → sell_0_fee_shares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最多执行 3 次赎回（节流）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08960" y="4059936"/>
            <a:ext cx="0" cy="100584"/>
          </a:xfrm>
          <a:prstGeom prst="line">
            <a:avLst/>
          </a:prstGeom>
          <a:noFill/>
          <a:ln w="25400">
            <a:solidFill>
              <a:srgbClr val="46547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8640" y="4160520"/>
            <a:ext cx="5120640" cy="640080"/>
          </a:xfrm>
          <a:prstGeom prst="roundRect">
            <a:avLst/>
          </a:prstGeom>
          <a:solidFill>
            <a:srgbClr val="111C3A">
              <a:alpha val="92000"/>
            </a:srgbClr>
          </a:solidFill>
          <a:ln w="12700">
            <a:solidFill>
              <a:srgbClr val="2B3A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160520"/>
            <a:ext cx="73152" cy="640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288536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兜底与输出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" y="452628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 预估收益&gt;10% 且 非C类 → 卖出低费率份额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释放现金/活期宝，支撑下一轮交易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06440" y="2057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收益与风控的平衡点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06440" y="2423160"/>
            <a:ext cx="2788920" cy="2194560"/>
          </a:xfrm>
          <a:prstGeom prst="roundRect">
            <a:avLst/>
          </a:prstGeom>
          <a:solidFill>
            <a:srgbClr val="111C3A">
              <a:alpha val="88000"/>
            </a:srgbClr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2578608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1) 波动率自适应：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高波动资产给更高空间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2) 反弹确认：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今日估值涨幅&gt;0.5% 才卖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3) 费用优先：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先卖0费率/低费率份额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225">
              <a:alpha val="90000"/>
            </a:srgbClr>
          </a:solidFill>
          <a:ln w="12700">
            <a:solidFill>
              <a:srgbClr val="0B122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97433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Confidential · Fund System AI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0" y="49743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9/12</a:t>
            </a:r>
            <a:endParaRPr lang="en-US" sz="1000" dirty="0"/>
          </a:p>
        </p:txBody>
      </p:sp>
      <p:sp>
        <p:nvSpPr>
          <p:cNvPr id="3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实盘案例：DEFAULT_USER /「飞龙在天」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该子账户应用“加仓风向标组合算法”，参数来自配置文件与环境变量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47088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2651760" cy="1143000"/>
          </a:xfrm>
          <a:prstGeom prst="roundRect">
            <a:avLst/>
          </a:prstGeom>
          <a:solidFill>
            <a:srgbClr val="111C3A">
              <a:alpha val="90000"/>
            </a:srgbClr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671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飞龙在天 · 总资产（报告）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¥793,149.57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383280" y="1965960"/>
            <a:ext cx="2651760" cy="1143000"/>
          </a:xfrm>
          <a:prstGeom prst="roundRect">
            <a:avLst/>
          </a:prstGeom>
          <a:solidFill>
            <a:srgbClr val="111C3A">
              <a:alpha val="90000"/>
            </a:srgbClr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21671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持仓数量（报告）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11880" y="2468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只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217920" y="1965960"/>
            <a:ext cx="2560320" cy="1143000"/>
          </a:xfrm>
          <a:prstGeom prst="roundRect">
            <a:avLst/>
          </a:prstGeom>
          <a:solidFill>
            <a:srgbClr val="111C3A">
              <a:alpha val="90000"/>
            </a:srgbClr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167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流动性风控（全账户）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2468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HQB&lt;20%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3977640" cy="1417320"/>
          </a:xfrm>
          <a:prstGeom prst="roundRect">
            <a:avLst/>
          </a:prstGeom>
          <a:solidFill>
            <a:srgbClr val="111C3A">
              <a:alpha val="90000"/>
            </a:srgbClr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291840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45643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配置与触发（节选）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3232" y="385876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sub_account_name：飞龙在天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total_budget：1,000,000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DEFAULT_AMOUNT_ADD_NEW：50,000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DEFAULT_AMOUNT_INCREASE：10,000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HQB_RATIO_THRESHOLD：20%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3291840"/>
            <a:ext cx="3977640" cy="1417320"/>
          </a:xfrm>
          <a:prstGeom prst="roundRect">
            <a:avLst/>
          </a:prstGeom>
          <a:solidFill>
            <a:srgbClr val="111C3A">
              <a:alpha val="90000"/>
            </a:srgbClr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3291840"/>
            <a:ext cx="73152" cy="14173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5192" y="345643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可解释输出（建议展示）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65192" y="385876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今日候选池（风向标TopN）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新增/加仓/止盈清单与原因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资金利用率与回撤曲线（可替换占位）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注：全账户诊断报告显示总资产约 ¥4,566,937，活期宝占比约 16.55%（低于 20% 红线，系统会更偏防守）。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225">
              <a:alpha val="90000"/>
            </a:srgbClr>
          </a:solidFill>
          <a:ln w="12700">
            <a:solidFill>
              <a:srgbClr val="0B122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97433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Confidential · Fund System AI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0" y="49743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10/12</a:t>
            </a:r>
            <a:endParaRPr lang="en-US" sz="1000" dirty="0"/>
          </a:p>
        </p:txBody>
      </p:sp>
      <p:sp>
        <p:nvSpPr>
          <p:cNvPr id="2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回测/实盘指标展示（可替换占位）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用于投前沟通：把收益、回撤、资金效率“量化成一页”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47088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57400"/>
            <a:ext cx="5577840" cy="2697480"/>
          </a:xfrm>
          <a:prstGeom prst="roundRect">
            <a:avLst/>
          </a:prstGeom>
          <a:solidFill>
            <a:srgbClr val="111C3A">
              <a:alpha val="88000"/>
            </a:srgbClr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2461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（占位）净值曲线 / 回撤曲线 / 基准对比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2057400"/>
            <a:ext cx="2286000" cy="822960"/>
          </a:xfrm>
          <a:prstGeom prst="roundRect">
            <a:avLst/>
          </a:prstGeom>
          <a:solidFill>
            <a:srgbClr val="111C3A">
              <a:alpha val="90000"/>
            </a:srgbClr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2585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年化收益率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3796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待补充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309360" y="2971800"/>
            <a:ext cx="2286000" cy="822960"/>
          </a:xfrm>
          <a:prstGeom prst="roundRect">
            <a:avLst/>
          </a:prstGeom>
          <a:solidFill>
            <a:srgbClr val="111C3A">
              <a:alpha val="90000"/>
            </a:srgbClr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31729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最大回撤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37960" y="3474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7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待补充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6309360" y="3886200"/>
            <a:ext cx="2286000" cy="822960"/>
          </a:xfrm>
          <a:prstGeom prst="roundRect">
            <a:avLst/>
          </a:prstGeom>
          <a:solidFill>
            <a:srgbClr val="111C3A">
              <a:alpha val="90000"/>
            </a:srgbClr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40873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资金利用率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3796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待补充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4864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建议：按“子账户（如飞龙在天）/策略（新增、加仓、止盈）/市场阶段（牛/熊/震荡）”拆分展示。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225">
              <a:alpha val="90000"/>
            </a:srgbClr>
          </a:solidFill>
          <a:ln w="12700">
            <a:solidFill>
              <a:srgbClr val="0B12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97433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Confidential · Fund System AI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0" y="49743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11/12</a:t>
            </a:r>
            <a:endParaRPr lang="en-US" sz="1000" dirty="0"/>
          </a:p>
        </p:txBody>
      </p:sp>
      <p:sp>
        <p:nvSpPr>
          <p:cNvPr id="2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下一步：从“可用”走向“可规模化”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72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基于现有代码与实盘诊断建议的落地路线（可快速迭代）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97480" cy="2057400"/>
          </a:xfrm>
          <a:prstGeom prst="roundRect">
            <a:avLst/>
          </a:prstGeom>
          <a:solidFill>
            <a:srgbClr val="111C3A">
              <a:alpha val="90000"/>
            </a:srgbClr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48840"/>
            <a:ext cx="73152" cy="20574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3134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信号升级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271576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nav5_gate 升级为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MA20 + MACD/BOLL 共振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降低震荡市伪信号。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2148840"/>
            <a:ext cx="2697480" cy="2057400"/>
          </a:xfrm>
          <a:prstGeom prst="roundRect">
            <a:avLst/>
          </a:prstGeom>
          <a:solidFill>
            <a:srgbClr val="111C3A">
              <a:alpha val="90000"/>
            </a:srgbClr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2148840"/>
            <a:ext cx="73152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93592" y="23134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93592" y="271576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同一基金设定 cooldown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（例如5个交易日内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不重复阶梯加仓）。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2148840"/>
            <a:ext cx="2697480" cy="2057400"/>
          </a:xfrm>
          <a:prstGeom prst="roundRect">
            <a:avLst/>
          </a:prstGeom>
          <a:solidFill>
            <a:srgbClr val="111C3A">
              <a:alpha val="90000"/>
            </a:srgbClr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148840"/>
            <a:ext cx="73152" cy="2057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23134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相关性管理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73952" y="271576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合并同质化标的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引入“压舱石”低波资产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提升组合稳定性。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8229600" cy="822960"/>
          </a:xfrm>
          <a:prstGeom prst="roundRect">
            <a:avLst/>
          </a:prstGeom>
          <a:solidFill>
            <a:srgbClr val="0B1225">
              <a:alpha val="95000"/>
            </a:srgbClr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融资诉求（可替换）：用于策略迭代、风控与数据体系建设、以及实盘规模化验证。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225">
              <a:alpha val="90000"/>
            </a:srgbClr>
          </a:solidFill>
          <a:ln w="12700">
            <a:solidFill>
              <a:srgbClr val="0B12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97433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Confidential · Fund System AI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0" y="49743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12/12</a:t>
            </a:r>
            <a:endParaRPr lang="en-US" sz="100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基金系统（加仓风向标组合算法）路演版</dc:title>
  <dc:subject>PptxGenJS Presentation</dc:subject>
  <dc:creator>Fund System AI</dc:creator>
  <cp:lastModifiedBy>Fund System AI</cp:lastModifiedBy>
  <cp:revision>1</cp:revision>
  <dcterms:created xsi:type="dcterms:W3CDTF">2026-05-12T02:35:00Z</dcterms:created>
  <dcterms:modified xsi:type="dcterms:W3CDTF">2026-05-12T02:35:00Z</dcterms:modified>
</cp:coreProperties>
</file>